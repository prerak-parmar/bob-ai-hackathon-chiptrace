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0" y="0"/>
            <a:ext cx="4206240" cy="6858000"/>
          </a:xfrm>
          <a:prstGeom prst="rect">
            <a:avLst/>
          </a:prstGeom>
          <a:solidFill>
            <a:srgbClr val="0F1C34"/>
          </a:solidFill>
          <a:ln>
            <a:solidFill>
              <a:srgbClr val="0F1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0" y="914400"/>
            <a:ext cx="2926080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0" y="1920240"/>
            <a:ext cx="2194560" cy="73152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0" y="2926080"/>
            <a:ext cx="3200400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0" y="3931920"/>
            <a:ext cx="2468880" cy="73152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0" y="4937760"/>
            <a:ext cx="3383280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94360"/>
            <a:ext cx="4389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6B6D4"/>
                </a:solidFill>
                <a:latin typeface="Aptos"/>
              </a:rPr>
              <a:t>IBM BOB AI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17320"/>
            <a:ext cx="65836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300" b="1">
                <a:solidFill>
                  <a:srgbClr val="F8FAFC"/>
                </a:solidFill>
                <a:latin typeface="Aptos"/>
              </a:rPr>
              <a:t>YIELD
HUNTERS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246120"/>
            <a:ext cx="6400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E2E8F0"/>
                </a:solidFill>
                <a:latin typeface="Aptos"/>
              </a:rPr>
              <a:t>ChipTrace — Wafer Lot Yield Intelligence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886200"/>
            <a:ext cx="6492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Aptos"/>
              </a:rPr>
              <a:t>AI-powered monitoring • driver analysis • planned-lot risk simulation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80060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882896"/>
            <a:ext cx="2148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ptos"/>
              </a:rPr>
              <a:t>AI TRACK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806440"/>
            <a:ext cx="6126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ptos"/>
              </a:rPr>
              <a:t>From production data → actionable yield intelligence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18520" y="6446520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698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Semiconductor yield problems are expensive to investigate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The gap is not just data availability — it is turning data into decisions quickly.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783080"/>
            <a:ext cx="109728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18520" y="6473952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0280"/>
            <a:ext cx="3429000" cy="233172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240280"/>
            <a:ext cx="64008" cy="233172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F4444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04872"/>
            <a:ext cx="248716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LOW-YIELD 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807208"/>
            <a:ext cx="2487168" cy="16184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ptos"/>
              </a:rPr>
              <a:t>Yield excursions can be missed until they become costly production issues.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240280"/>
            <a:ext cx="3429000" cy="233172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2240280"/>
            <a:ext cx="64008" cy="2331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40487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404872"/>
            <a:ext cx="248716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COMPLEX PROCESS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2807208"/>
            <a:ext cx="2487168" cy="16184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ptos"/>
              </a:rPr>
              <a:t>Temperature, pressure, power, gas flow and defect data create a high-dimensional problem.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2240280"/>
            <a:ext cx="3429000" cy="233172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20" y="2240280"/>
            <a:ext cx="64008" cy="233172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240487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6B6D4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404872"/>
            <a:ext cx="248716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SLOW INVESTIGATION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2807208"/>
            <a:ext cx="2487168" cy="16184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ptos"/>
              </a:rPr>
              <a:t>Teams may need several disconnected analyses to identify likely drivers and evaluate planned conditions.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07492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CORE QUESTION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44068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Aptos"/>
              </a:rPr>
              <a:t>How can an engineer move from “something looks wrong” to “here is what to investigate next” in one workflow?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46520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Aptos"/>
              </a:rPr>
              <a:t>CHIPTRACE  •  Wafer Lot Yield Intelligence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698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One workflow: monitor → detect → analyze → simulate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ChipTrace brings lot-level analytics into a single interactive dashboard.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783080"/>
            <a:ext cx="109728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18520" y="6473952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2423160" cy="233172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450592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88036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Aptos"/>
              </a:rPr>
              <a:t>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01568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ptos"/>
              </a:rPr>
              <a:t>Upload lot-level CSV or use the demo dataset.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3154680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2240280"/>
            <a:ext cx="2423160" cy="233172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450592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6B6D4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88036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Aptos"/>
              </a:rPr>
              <a:t>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401568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ptos"/>
              </a:rPr>
              <a:t>Track yield, defects and SPC behavior.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154680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6B6D4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2240280"/>
            <a:ext cx="2423160" cy="233172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450592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88036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Aptos"/>
              </a:rPr>
              <a:t>ANALYZE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401568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ptos"/>
              </a:rPr>
              <a:t>Rank influential process factors and inspect die patterns.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59952" y="3154680"/>
            <a:ext cx="320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9136" y="2240280"/>
            <a:ext cx="2423160" cy="233172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0304" y="2450592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6B6D4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4" y="288036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Aptos"/>
              </a:rPr>
              <a:t>SIMULATE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4" y="3401568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94A3B8"/>
                </a:solidFill>
                <a:latin typeface="Aptos"/>
              </a:rPr>
              <a:t>Evaluate planned recipe conditions against historical behavior.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074920"/>
            <a:ext cx="10835640" cy="713232"/>
          </a:xfrm>
          <a:prstGeom prst="roundRect">
            <a:avLst>
              <a:gd name="adj" fmla="val 12000"/>
            </a:avLst>
          </a:prstGeom>
          <a:solidFill>
            <a:srgbClr val="0F1C34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27608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6B6D4"/>
                </a:solidFill>
                <a:latin typeface="Aptos"/>
              </a:rPr>
              <a:t>Decision-support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230368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ptos"/>
              </a:rPr>
              <a:t>See the excursion  →  focus the investigation  →  inspect spatial evidence  →  test the next lot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446520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Aptos"/>
              </a:rPr>
              <a:t>CHIPTRACE  •  Wafer Lot Yield Intelligence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698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From raw lot data to decision-ready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A lightweight Python analytics stack powers an interactive Streamlit experience.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783080"/>
            <a:ext cx="109728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18520" y="6473952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1874519" cy="205740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542032"/>
            <a:ext cx="1554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2563EB"/>
                </a:solidFill>
                <a:latin typeface="Aptos"/>
              </a:rPr>
              <a:t>DATA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971800"/>
            <a:ext cx="1554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CSV / Demo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03320"/>
            <a:ext cx="1508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94A3B8"/>
                </a:solidFill>
                <a:latin typeface="Aptos"/>
              </a:rPr>
              <a:t>Lot yield, process parameters, defect information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1488" y="3154680"/>
            <a:ext cx="256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2331720"/>
            <a:ext cx="1874519" cy="205740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36392" y="2542032"/>
            <a:ext cx="1554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6B6D4"/>
                </a:solidFill>
                <a:latin typeface="Aptos"/>
              </a:rPr>
              <a:t>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2971800"/>
            <a:ext cx="1554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Pandas + 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3703320"/>
            <a:ext cx="1508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94A3B8"/>
                </a:solidFill>
                <a:latin typeface="Aptos"/>
              </a:rPr>
              <a:t>Validation, transformation and feature preparation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0328" y="3154680"/>
            <a:ext cx="256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6B6D4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331720"/>
            <a:ext cx="1874519" cy="205740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5231" y="2542032"/>
            <a:ext cx="1554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2563EB"/>
                </a:solidFill>
                <a:latin typeface="Aptos"/>
              </a:rPr>
              <a:t>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1" y="2971800"/>
            <a:ext cx="1554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Statistics + 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1" y="3703320"/>
            <a:ext cx="1508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94A3B8"/>
                </a:solidFill>
                <a:latin typeface="Aptos"/>
              </a:rPr>
              <a:t>SPC, distributions, Random Forest driver ranking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3154680"/>
            <a:ext cx="256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2331720"/>
            <a:ext cx="1874519" cy="205740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34072" y="2542032"/>
            <a:ext cx="1554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6B6D4"/>
                </a:solidFill>
                <a:latin typeface="Aptos"/>
              </a:rPr>
              <a:t>VISUALIZATION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2971800"/>
            <a:ext cx="1554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Plotly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4072" y="3703320"/>
            <a:ext cx="1508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94A3B8"/>
                </a:solidFill>
                <a:latin typeface="Aptos"/>
              </a:rPr>
              <a:t>Interactive charts and spatial wafer inspection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8008" y="3154680"/>
            <a:ext cx="256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06B6D4"/>
                </a:solidFill>
                <a:latin typeface="Aptos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0" y="2331720"/>
            <a:ext cx="1874519" cy="205740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82912" y="2542032"/>
            <a:ext cx="1554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2563EB"/>
                </a:solidFill>
                <a:latin typeface="Aptos"/>
              </a:rPr>
              <a:t>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82912" y="2971800"/>
            <a:ext cx="1554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Streamlit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2912" y="3703320"/>
            <a:ext cx="1508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94A3B8"/>
                </a:solidFill>
                <a:latin typeface="Aptos"/>
              </a:rPr>
              <a:t>One interface for monitoring and simulation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9834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6B6D4"/>
                </a:solidFill>
                <a:latin typeface="Aptos"/>
              </a:rPr>
              <a:t>Technology stack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Python  •  Streamlit  •  Pandas  •  NumPy  •  Plotly  •  Scikit-learn  •  SciPy  •  Statsmodels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446520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Aptos"/>
              </a:rPr>
              <a:t>CHIPTRACE  •  Wafer Lot Yield Intelligence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KEY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698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Five capabilities, one investigation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Designed around the questions an engineer needs to answer.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783080"/>
            <a:ext cx="109728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18520" y="6473952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880360" cy="1874519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Yield &amp; Defect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07208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Aptos"/>
              </a:rPr>
              <a:t>What is the current yield picture?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383280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9" b="0">
                <a:solidFill>
                  <a:srgbClr val="94A3B8"/>
                </a:solidFill>
                <a:latin typeface="Aptos"/>
              </a:rPr>
              <a:t>KPIs • distribution • excursion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2880360" cy="1874519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33172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SPC Monitoring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807208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6B6D4"/>
                </a:solidFill>
                <a:latin typeface="Aptos"/>
              </a:rPr>
              <a:t>Is process behavior changing?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3383280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9" b="0">
                <a:solidFill>
                  <a:srgbClr val="94A3B8"/>
                </a:solidFill>
                <a:latin typeface="Aptos"/>
              </a:rPr>
              <a:t>Run chart • control limits • rolling mean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148840"/>
            <a:ext cx="2880360" cy="1874519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36408" y="233172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Driver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8" y="2807208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Aptos"/>
              </a:rPr>
              <a:t>Which factors deserve attention?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3383280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9" b="0">
                <a:solidFill>
                  <a:srgbClr val="94A3B8"/>
                </a:solidFill>
                <a:latin typeface="Aptos"/>
              </a:rPr>
              <a:t>Random Forest feature importance ranking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23160" y="4572000"/>
            <a:ext cx="2880360" cy="1874519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24328" y="475488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Wafer Die Map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24328" y="5230368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6B6D4"/>
                </a:solidFill>
                <a:latin typeface="Aptos"/>
              </a:rPr>
              <a:t>Where are defects concentrated?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24328" y="5806440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9" b="0">
                <a:solidFill>
                  <a:srgbClr val="94A3B8"/>
                </a:solidFill>
                <a:latin typeface="Aptos"/>
              </a:rPr>
              <a:t>Spatial pass/defect inspection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4572000"/>
            <a:ext cx="2880360" cy="1874519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8" y="475488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Lot Risk Simulator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9048" y="5230368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Aptos"/>
              </a:rPr>
              <a:t>What if we run this recipe?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048" y="5806440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9" b="0">
                <a:solidFill>
                  <a:srgbClr val="94A3B8"/>
                </a:solidFill>
                <a:latin typeface="Aptos"/>
              </a:rPr>
              <a:t>Planned setpoints vs historical baseline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46520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Aptos"/>
              </a:rPr>
              <a:t>CHIPTRACE  •  Wafer Lot Yield Intelligence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PRODUCT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698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Live dashboard: the operational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A single screen surfaces lot volume, average yield, excursions, defects and spatial evidence.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783080"/>
            <a:ext cx="109728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18520" y="6473952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057400"/>
            <a:ext cx="11018520" cy="3977639"/>
          </a:xfrm>
          <a:prstGeom prst="roundRect">
            <a:avLst>
              <a:gd name="adj" fmla="val 12000"/>
            </a:avLst>
          </a:prstGeom>
          <a:solidFill>
            <a:srgbClr val="0F1C34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40280"/>
            <a:ext cx="10652760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989320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6B6D4"/>
                </a:solidFill>
                <a:latin typeface="Aptos"/>
              </a:rPr>
              <a:t>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5961888"/>
            <a:ext cx="7040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ptos"/>
              </a:rPr>
              <a:t>Start with the health of the lot population, then drill into the outliers.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46520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Aptos"/>
              </a:rPr>
              <a:t>CHIPTRACE  •  Wafer Lot Yield Intelligence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PRODUCT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698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Yield &amp; defect analytics: detect excursions early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SPC-style monitoring turns a long lot history into a visual signal for process variation.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783080"/>
            <a:ext cx="109728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18520" y="6473952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057400"/>
            <a:ext cx="11018520" cy="3977639"/>
          </a:xfrm>
          <a:prstGeom prst="roundRect">
            <a:avLst>
              <a:gd name="adj" fmla="val 12000"/>
            </a:avLst>
          </a:prstGeom>
          <a:solidFill>
            <a:srgbClr val="0F1C34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li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40280"/>
            <a:ext cx="10652760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989320"/>
            <a:ext cx="822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6B6D4"/>
                </a:solidFill>
                <a:latin typeface="Aptos"/>
              </a:rPr>
              <a:t>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5961888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ptos"/>
              </a:rPr>
              <a:t>Control limits and thresholds make unusual yield behavior easier to spot and prioritize.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46520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Aptos"/>
              </a:rPr>
              <a:t>CHIPTRACE  •  Wafer Lot Yield Intelligence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PRODUCT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698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Driver analysis: focus the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Feature importance ranks process variables that are most useful for predicting yield in the available data.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783080"/>
            <a:ext cx="109728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18520" y="6473952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057400"/>
            <a:ext cx="11018520" cy="3977639"/>
          </a:xfrm>
          <a:prstGeom prst="roundRect">
            <a:avLst>
              <a:gd name="adj" fmla="val 12000"/>
            </a:avLst>
          </a:prstGeom>
          <a:solidFill>
            <a:srgbClr val="0F1C34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lid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40280"/>
            <a:ext cx="10652760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989320"/>
            <a:ext cx="868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6B6D4"/>
                </a:solidFill>
                <a:latin typeface="Aptos"/>
              </a:rPr>
              <a:t>ANALYZE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5961888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ptos"/>
              </a:rPr>
              <a:t>Use ranked drivers to guide engineering review — not as a substitute for process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46520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Aptos"/>
              </a:rPr>
              <a:t>CHIPTRACE  •  Wafer Lot Yield Intelligence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PRODUCT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698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Lot risk simulator: test planned conditions before 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Compare planned setpoints with historical behavior to flag potential risk before a lot is run.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783080"/>
            <a:ext cx="109728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18520" y="6473952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057400"/>
            <a:ext cx="11018520" cy="3977639"/>
          </a:xfrm>
          <a:prstGeom prst="roundRect">
            <a:avLst>
              <a:gd name="adj" fmla="val 12000"/>
            </a:avLst>
          </a:prstGeom>
          <a:solidFill>
            <a:srgbClr val="0F1C34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lid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40280"/>
            <a:ext cx="10652760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989320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6B6D4"/>
                </a:solidFill>
                <a:latin typeface="Aptos"/>
              </a:rPr>
              <a:t>SIMULATE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596188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Aptos"/>
              </a:rPr>
              <a:t>Shift the workflow from reactive analysis toward proactive recipe evaluation.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46520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Aptos"/>
              </a:rPr>
              <a:t>CHIPTRACE  •  Wafer Lot Yield Intelligence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698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What ChipTrace changes for the engineering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The prototype is built to reduce analysis friction and improve investigation focus.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783080"/>
            <a:ext cx="109728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18520" y="6473952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148840"/>
            <a:ext cx="10744200" cy="713232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FASTER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2286000"/>
            <a:ext cx="8001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8FAFC"/>
                </a:solidFill>
                <a:latin typeface="Aptos"/>
              </a:rPr>
              <a:t>Surface low-yield behavior and excursions without manually stitching together multiple views.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063240"/>
            <a:ext cx="10744200" cy="713232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46120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FOCUSED INVESTIGATION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3200400"/>
            <a:ext cx="8001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8FAFC"/>
                </a:solidFill>
                <a:latin typeface="Aptos"/>
              </a:rPr>
              <a:t>Rank candidate drivers so engineers can prioritize what to examine first.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77639"/>
            <a:ext cx="10744200" cy="713232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160520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SPATIAL 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4114800"/>
            <a:ext cx="8001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8FAFC"/>
                </a:solidFill>
                <a:latin typeface="Aptos"/>
              </a:rPr>
              <a:t>Use wafer die maps to see whether defects cluster by location.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892040"/>
            <a:ext cx="10744200" cy="713232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74920"/>
            <a:ext cx="2103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PROACTIVE THINKING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5029200"/>
            <a:ext cx="8001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8FAFC"/>
                </a:solidFill>
                <a:latin typeface="Aptos"/>
              </a:rPr>
              <a:t>Evaluate planned process conditions against historical baseline behavior.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8932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6B6D4"/>
                </a:solidFill>
                <a:latin typeface="Aptos"/>
              </a:rPr>
              <a:t>Current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5943600"/>
            <a:ext cx="8869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Functional prototype using demo / historical lot data with an interactive web dashboard.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46520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Aptos"/>
              </a:rPr>
              <a:t>CHIPTRACE  •  Wafer Lot Yield Intelligence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6984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Prototype today. Production integration tomorrow.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A clear path from hackathon proof-of-concept to an engineering-ready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1783080"/>
            <a:ext cx="109728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018520" y="6473952"/>
            <a:ext cx="548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331720"/>
            <a:ext cx="3246120" cy="233172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57860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03580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Aptos"/>
              </a:rPr>
              <a:t>Functional prototype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703320"/>
            <a:ext cx="2697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80" b="0">
                <a:solidFill>
                  <a:srgbClr val="94A3B8"/>
                </a:solidFill>
                <a:latin typeface="Aptos"/>
              </a:rPr>
              <a:t>Interactive dashboard, lot analytics, SPC, driver ranking and risk simulation.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4612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Apto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2331720"/>
            <a:ext cx="3246120" cy="233172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257860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Aptos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03580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Aptos"/>
              </a:rPr>
              <a:t>Production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697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80" b="0">
                <a:solidFill>
                  <a:srgbClr val="94A3B8"/>
                </a:solidFill>
                <a:latin typeface="Aptos"/>
              </a:rPr>
              <a:t>MES / database connectivity, model validation, authentication and alerts.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24612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6B6D4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2331720"/>
            <a:ext cx="3246120" cy="2331720"/>
          </a:xfrm>
          <a:prstGeom prst="roundRect">
            <a:avLst>
              <a:gd name="adj" fmla="val 12000"/>
            </a:avLst>
          </a:prstGeom>
          <a:solidFill>
            <a:srgbClr val="14233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257860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3035808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Aptos"/>
              </a:rPr>
              <a:t>Closed-loop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3703320"/>
            <a:ext cx="26974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80" b="0">
                <a:solidFill>
                  <a:srgbClr val="94A3B8"/>
                </a:solidFill>
                <a:latin typeface="Aptos"/>
              </a:rPr>
              <a:t>Continuous monitoring, stronger model governance and deployment hardening.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257800"/>
            <a:ext cx="10744200" cy="713232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4406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CHIPTRACE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404104"/>
            <a:ext cx="79552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Turn wafer data into the next engineering decision.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619963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6B6D4"/>
                </a:solidFill>
                <a:latin typeface="Aptos"/>
              </a:rPr>
              <a:t>THANK 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6181344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Questions &amp;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